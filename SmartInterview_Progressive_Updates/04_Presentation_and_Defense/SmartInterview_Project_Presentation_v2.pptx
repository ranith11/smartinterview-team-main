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3"/>
    <p:sldId id="258" r:id="rId4"/>
    <p:sldId id="323" r:id="rId5"/>
    <p:sldId id="322" r:id="rId6"/>
    <p:sldId id="321" r:id="rId7"/>
    <p:sldId id="320" r:id="rId8"/>
    <p:sldId id="319" r:id="rId9"/>
    <p:sldId id="324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0D75F-73F6-467C-8B5A-E96364E1170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F4ECA-A2DA-4C65-B4BB-80B02CF08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799" y="4343379"/>
            <a:ext cx="5486389" cy="4114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54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08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750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31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51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333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995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822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2131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1189201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19072" y="2816352"/>
            <a:ext cx="8759952" cy="1472184"/>
          </a:xfrm>
          <a:prstGeom prst="rect">
            <a:avLst/>
          </a:prstGeom>
        </p:spPr>
        <p:txBody>
          <a:bodyPr wrap="square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Tx/>
              <a:tabLst/>
              <a:defRPr/>
              <a:buNone/>
            </a:pPr>
            <a:r>
              <a:rPr sz="1300" b="1">
                <a:solidFill>
                  <a:srgbClr val="C62828"/>
                </a:solidFill>
                <a:latin typeface="Arial"/>
              </a:rPr>
              <a:t>KR24_SDC-II_III-I_2026 Project Review-I
</a:t>
            </a:r>
            <a:r>
              <a:rPr sz="2000" b="1">
                <a:solidFill>
                  <a:srgbClr val="000000"/>
                </a:solidFill>
                <a:latin typeface="Arial"/>
              </a:rPr>
              <a:t>Personalized Technical Interview Preparation in Higher Education</a:t>
            </a:r>
          </a:p>
          <a:p>
            <a:pPr algn="ctr">
              <a:spcBef>
                <a:spcPts val="400"/>
              </a:spcBef>
              <a:buNone/>
            </a:pPr>
            <a:r>
              <a:rPr sz="1300" b="1">
                <a:solidFill>
                  <a:srgbClr val="555555"/>
                </a:solidFill>
                <a:latin typeface="Arial"/>
              </a:rPr>
              <a:t>(SmartInterview — G-1392)   |   Date: 24-09-2026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8256" y="4453128"/>
            <a:ext cx="4837176" cy="22768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Tx/>
              <a:tabLst/>
              <a:defRPr sz="1400" b="1">
                <a:solidFill>
                  <a:srgbClr val="C62828"/>
                </a:solidFill>
                <a:latin typeface="Times New Roman"/>
              </a:defRPr>
              <a:buNone/>
            </a:pPr>
            <a:r>
              <a:t>Team Members (Name &amp; Roll Number):</a:t>
            </a:r>
          </a:p>
          <a:p>
            <a:pPr>
              <a:spcAft>
                <a:spcPts val="200"/>
              </a:spcAft>
              <a:buNone/>
              <a:defRPr sz="1200">
                <a:solidFill>
                  <a:srgbClr val="000000"/>
                </a:solidFill>
                <a:latin typeface="Times New Roman"/>
              </a:defRPr>
            </a:pPr>
            <a:r>
              <a:t>• Shamakura Saiteja Goud (24BD1A665K)</a:t>
            </a:r>
          </a:p>
          <a:p>
            <a:pPr>
              <a:spcAft>
                <a:spcPts val="200"/>
              </a:spcAft>
              <a:buNone/>
              <a:defRPr sz="1200">
                <a:solidFill>
                  <a:srgbClr val="000000"/>
                </a:solidFill>
                <a:latin typeface="Times New Roman"/>
              </a:defRPr>
            </a:pPr>
            <a:r>
              <a:t>• Thodsam Srujan (24BD1A665R)</a:t>
            </a:r>
          </a:p>
          <a:p>
            <a:pPr>
              <a:spcAft>
                <a:spcPts val="200"/>
              </a:spcAft>
              <a:buNone/>
              <a:defRPr sz="1200">
                <a:solidFill>
                  <a:srgbClr val="000000"/>
                </a:solidFill>
                <a:latin typeface="Times New Roman"/>
              </a:defRPr>
            </a:pPr>
            <a:r>
              <a:t>• Vasireddy Vignesh Reddy (24BD1A665X)</a:t>
            </a:r>
          </a:p>
          <a:p>
            <a:pPr>
              <a:spcAft>
                <a:spcPts val="200"/>
              </a:spcAft>
              <a:buNone/>
              <a:defRPr sz="1200">
                <a:solidFill>
                  <a:srgbClr val="000000"/>
                </a:solidFill>
                <a:latin typeface="Times New Roman"/>
              </a:defRPr>
            </a:pPr>
            <a:r>
              <a:t>• Aelugu Ranith Kumar (25BD5A6615)</a:t>
            </a:r>
          </a:p>
          <a:p>
            <a:pPr>
              <a:spcAft>
                <a:spcPts val="200"/>
              </a:spcAft>
              <a:buNone/>
              <a:defRPr sz="1200">
                <a:solidFill>
                  <a:srgbClr val="000000"/>
                </a:solidFill>
                <a:latin typeface="Times New Roman"/>
              </a:defRPr>
            </a:pPr>
            <a:r>
              <a:t>• Konduri Abhiram (25BD5A6620)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51CFB20-BF85-80BD-477B-14C7A76949D5}"/>
              </a:ext>
            </a:extLst>
          </p:cNvPr>
          <p:cNvSpPr txBox="1">
            <a:spLocks/>
          </p:cNvSpPr>
          <p:nvPr/>
        </p:nvSpPr>
        <p:spPr>
          <a:xfrm>
            <a:off x="7031736" y="4453128"/>
            <a:ext cx="4608576" cy="22768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Tx/>
              <a:tabLst/>
              <a:defRPr sz="1400" b="1">
                <a:solidFill>
                  <a:srgbClr val="C62828"/>
                </a:solidFill>
                <a:latin typeface="Times New Roman"/>
              </a:defRPr>
              <a:buNone/>
            </a:pPr>
            <a:r>
              <a:t>Faculty Mentor:</a:t>
            </a:r>
          </a:p>
          <a:p>
            <a:pPr>
              <a:spcAft>
                <a:spcPts val="200"/>
              </a:spcAft>
              <a:buNone/>
            </a:pPr>
            <a:r>
              <a:rPr b="1" sz="1200">
                <a:solidFill>
                  <a:srgbClr val="000000"/>
                </a:solidFill>
                <a:latin typeface="Times New Roman"/>
              </a:rPr>
              <a:t>• Mentor: </a:t>
            </a:r>
            <a:r>
              <a:rPr sz="1200">
                <a:solidFill>
                  <a:srgbClr val="212121"/>
                </a:solidFill>
                <a:latin typeface="Times New Roman"/>
              </a:rPr>
              <a:t>Dr. TVG Sridevi</a:t>
            </a:r>
          </a:p>
          <a:p>
            <a:pPr>
              <a:spcAft>
                <a:spcPts val="200"/>
              </a:spcAft>
              <a:buNone/>
            </a:pPr>
            <a:r>
              <a:rPr b="1" sz="1200">
                <a:solidFill>
                  <a:srgbClr val="000000"/>
                </a:solidFill>
                <a:latin typeface="Times New Roman"/>
              </a:rPr>
              <a:t>• Department: </a:t>
            </a:r>
            <a:r>
              <a:rPr sz="1200">
                <a:solidFill>
                  <a:srgbClr val="212121"/>
                </a:solidFill>
                <a:latin typeface="Times New Roman"/>
              </a:rPr>
              <a:t>Department of Computer Science and Engineering (AI&amp;ML)</a:t>
            </a:r>
          </a:p>
          <a:p>
            <a:pPr>
              <a:spcAft>
                <a:spcPts val="200"/>
              </a:spcAft>
              <a:buNone/>
            </a:pPr>
            <a:r>
              <a:rPr b="1" sz="1200">
                <a:solidFill>
                  <a:srgbClr val="000000"/>
                </a:solidFill>
                <a:latin typeface="Times New Roman"/>
              </a:rPr>
              <a:t>• Institution: </a:t>
            </a:r>
            <a:r>
              <a:rPr sz="1200">
                <a:solidFill>
                  <a:srgbClr val="212121"/>
                </a:solidFill>
                <a:latin typeface="Times New Roman"/>
              </a:rPr>
              <a:t>Keshav Memorial Institute of Technology (KMIT)</a:t>
            </a:r>
          </a:p>
        </p:txBody>
      </p:sp>
    </p:spTree>
    <p:extLst>
      <p:ext uri="{BB962C8B-B14F-4D97-AF65-F5344CB8AC3E}">
        <p14:creationId xmlns:p14="http://schemas.microsoft.com/office/powerpoint/2010/main" val="1922055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C3F8B0-6282-99B1-93A0-C4F705D327DE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  <a:defRPr sz="3200" b="1">
                <a:solidFill>
                  <a:srgbClr val="C62828"/>
                </a:solidFill>
                <a:latin typeface="Arial"/>
              </a:defRPr>
              <a:buNone/>
            </a:pPr>
            <a:r>
              <a:t>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5CB75-C0BF-49CC-2D4C-6D5FB9214585}"/>
              </a:ext>
            </a:extLst>
          </p:cNvPr>
          <p:cNvSpPr txBox="1"/>
          <p:nvPr/>
        </p:nvSpPr>
        <p:spPr>
          <a:xfrm>
            <a:off x="960120" y="868680"/>
            <a:ext cx="1026871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None/>
            </a:pPr>
            <a:r>
              <a:rPr sz="1400" b="1">
                <a:solidFill>
                  <a:srgbClr val="C62828"/>
                </a:solidFill>
                <a:latin typeface="Arial"/>
              </a:rPr>
              <a:t>1. Title Slide: </a:t>
            </a:r>
            <a:r>
              <a:rPr sz="1300">
                <a:solidFill>
                  <a:srgbClr val="212121"/>
                </a:solidFill>
                <a:latin typeface="Arial"/>
              </a:rPr>
              <a:t>Project Identification, Team Details &amp; Mentor Information</a:t>
            </a:r>
          </a:p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C62828"/>
                </a:solidFill>
                <a:latin typeface="Arial"/>
              </a:rPr>
              <a:t>2. Contents: </a:t>
            </a:r>
            <a:r>
              <a:rPr sz="1300">
                <a:solidFill>
                  <a:srgbClr val="212121"/>
                </a:solidFill>
                <a:latin typeface="Arial"/>
              </a:rPr>
              <a:t>Overview of Presentation Agenda</a:t>
            </a:r>
          </a:p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C62828"/>
                </a:solidFill>
                <a:latin typeface="Arial"/>
              </a:rPr>
              <a:t>3. Introduction: </a:t>
            </a:r>
            <a:r>
              <a:rPr sz="1300">
                <a:solidFill>
                  <a:srgbClr val="212121"/>
                </a:solidFill>
                <a:latin typeface="Arial"/>
              </a:rPr>
              <a:t>Problem Statement, Objectives, Base Papers &amp; Technology Stack</a:t>
            </a:r>
          </a:p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C62828"/>
                </a:solidFill>
                <a:latin typeface="Arial"/>
              </a:rPr>
              <a:t>4. Requirement: </a:t>
            </a:r>
            <a:r>
              <a:rPr sz="1300">
                <a:solidFill>
                  <a:srgbClr val="212121"/>
                </a:solidFill>
                <a:latin typeface="Arial"/>
              </a:rPr>
              <a:t>Project Outcome, 3 Practice Modes &amp; 5-Factor Scoring Rules</a:t>
            </a:r>
          </a:p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C62828"/>
                </a:solidFill>
                <a:latin typeface="Arial"/>
              </a:rPr>
              <a:t>5. Design: </a:t>
            </a:r>
            <a:r>
              <a:rPr sz="1300">
                <a:solidFill>
                  <a:srgbClr val="212121"/>
                </a:solidFill>
                <a:latin typeface="Arial"/>
              </a:rPr>
              <a:t>Layered System Architecture, Workflows &amp; Database Schemas</a:t>
            </a:r>
          </a:p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C62828"/>
                </a:solidFill>
                <a:latin typeface="Arial"/>
              </a:rPr>
              <a:t>6. Development: </a:t>
            </a:r>
            <a:r>
              <a:rPr sz="1300">
                <a:solidFill>
                  <a:srgbClr val="212121"/>
                </a:solidFill>
                <a:latin typeface="Arial"/>
              </a:rPr>
              <a:t>Modular Subsystems, Agile Process &amp; Core Test Cases</a:t>
            </a:r>
          </a:p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C62828"/>
                </a:solidFill>
                <a:latin typeface="Arial"/>
              </a:rPr>
              <a:t>7. Project Outcome: </a:t>
            </a:r>
            <a:r>
              <a:rPr sz="1300">
                <a:solidFill>
                  <a:srgbClr val="212121"/>
                </a:solidFill>
                <a:latin typeface="Arial"/>
              </a:rPr>
              <a:t>Working Prototype Deliverables, Key Benchmarks &amp; Challenges Solved</a:t>
            </a:r>
          </a:p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C62828"/>
                </a:solidFill>
                <a:latin typeface="Arial"/>
              </a:rPr>
              <a:t>8. Conclusion: </a:t>
            </a:r>
            <a:r>
              <a:rPr sz="1300">
                <a:solidFill>
                  <a:srgbClr val="212121"/>
                </a:solidFill>
                <a:latin typeface="Arial"/>
              </a:rPr>
              <a:t>Project Summary, New Skills Learned &amp; Project Links</a:t>
            </a:r>
          </a:p>
          <a:p>
            <a:pPr>
              <a:spcAft>
                <a:spcPts val="600"/>
              </a:spcAft>
              <a:buNone/>
            </a:pPr>
            <a:r>
              <a:rPr sz="1400" b="1">
                <a:solidFill>
                  <a:srgbClr val="C62828"/>
                </a:solidFill>
                <a:latin typeface="Arial"/>
              </a:rPr>
              <a:t>9. Thank you!: </a:t>
            </a:r>
            <a:r>
              <a:rPr sz="1300">
                <a:solidFill>
                  <a:srgbClr val="212121"/>
                </a:solidFill>
                <a:latin typeface="Arial"/>
              </a:rPr>
              <a:t>Concluding Slide &amp; Q&amp;A Discussion</a:t>
            </a:r>
          </a:p>
        </p:txBody>
      </p:sp>
    </p:spTree>
    <p:extLst>
      <p:ext uri="{BB962C8B-B14F-4D97-AF65-F5344CB8AC3E}">
        <p14:creationId xmlns:p14="http://schemas.microsoft.com/office/powerpoint/2010/main" val="322366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D12A0-BF48-2BD5-0527-690BC375E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52095-1E06-92A6-8BED-8F94FD56D16C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200" b="1">
                <a:solidFill>
                  <a:srgbClr val="C62828"/>
                </a:solidFill>
                <a:latin typeface="Arial"/>
              </a:defRPr>
              <a:buNone/>
            </a:pPr>
            <a:r>
              <a:t>INTRODUCTION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AFB47-235B-5172-F5FE-317016BE1FA5}"/>
              </a:ext>
            </a:extLst>
          </p:cNvPr>
          <p:cNvSpPr txBox="1"/>
          <p:nvPr/>
        </p:nvSpPr>
        <p:spPr>
          <a:xfrm>
            <a:off x="960120" y="868680"/>
            <a:ext cx="1026871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Problem Statement &amp; Student Need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Interview Anxiety: </a:t>
            </a:r>
            <a:r>
              <a:rPr sz="1150">
                <a:solidFill>
                  <a:srgbClr val="212121"/>
                </a:solidFill>
                <a:latin typeface="Arial"/>
              </a:rPr>
              <a:t>Many engineering students struggle during campus technical interviews due to nervousness and a lack of realistic mock practice.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Fixed Question Banks: </a:t>
            </a:r>
            <a:r>
              <a:rPr sz="1150">
                <a:solidFill>
                  <a:srgbClr val="212121"/>
                </a:solidFill>
                <a:latin typeface="Arial"/>
              </a:rPr>
              <a:t>Existing mock interview websites ask generic, fixed question sets that do not adjust to an individual student's actual skill level.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Curriculum vs Job Gap: </a:t>
            </a:r>
            <a:r>
              <a:rPr sz="1150">
                <a:solidFill>
                  <a:srgbClr val="212121"/>
                </a:solidFill>
                <a:latin typeface="Arial"/>
              </a:rPr>
              <a:t>College course topics, student resumes, and company job descriptions often require different skill sets that students find hard to balance.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Generic AI Limitations: </a:t>
            </a:r>
            <a:r>
              <a:rPr sz="1150">
                <a:solidFill>
                  <a:srgbClr val="212121"/>
                </a:solidFill>
                <a:latin typeface="Arial"/>
              </a:rPr>
              <a:t>Standard AI chatbots often make up incorrect technical facts and give surface-level marks without explaining how to improve.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Project Objectives &amp; Solution Benefits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Personalized Mock Practice: </a:t>
            </a:r>
            <a:r>
              <a:rPr sz="1150">
                <a:solidFill>
                  <a:srgbClr val="212121"/>
                </a:solidFill>
                <a:latin typeface="Arial"/>
              </a:rPr>
              <a:t>Build an easy-to-use web platform where students can practice realistic technical interviews anytime, 24x7.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Accurate Questions (RAG): </a:t>
            </a:r>
            <a:r>
              <a:rPr sz="1150">
                <a:solidFill>
                  <a:srgbClr val="212121"/>
                </a:solidFill>
                <a:latin typeface="Arial"/>
              </a:rPr>
              <a:t>Questions are retrieved from verified computer science topic notes, ensuring complete technical accuracy without AI making up facts.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Adaptive Question Difficulty: </a:t>
            </a:r>
            <a:r>
              <a:rPr sz="1150">
                <a:solidFill>
                  <a:srgbClr val="212121"/>
                </a:solidFill>
                <a:latin typeface="Arial"/>
              </a:rPr>
              <a:t>Starts with basic concepts and increases difficulty smoothly as the student answers well, following Bloom's Taxonomy.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Realistic Voice Interaction: </a:t>
            </a:r>
            <a:r>
              <a:rPr sz="1150">
                <a:solidFill>
                  <a:srgbClr val="212121"/>
                </a:solidFill>
                <a:latin typeface="Arial"/>
              </a:rPr>
              <a:t>The AI speaks questions aloud with natural voice and transcribes candidate spoken answers for realistic interview practice.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Base Papers &amp; Technology Stack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Base Papers: </a:t>
            </a:r>
            <a:r>
              <a:rPr sz="1150">
                <a:solidFill>
                  <a:srgbClr val="212121"/>
                </a:solidFill>
                <a:latin typeface="Arial"/>
              </a:rPr>
              <a:t>Wahid et al. (IJERT 2026) for voice interview simulation; Nagarajan et al. (IJMRR 2026) for resume skill matching.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Core Technology Stack: </a:t>
            </a:r>
            <a:r>
              <a:rPr sz="1150">
                <a:solidFill>
                  <a:srgbClr val="212121"/>
                </a:solidFill>
                <a:latin typeface="Arial"/>
              </a:rPr>
              <a:t>React 18 &amp; Vite (Frontend), Python FastAPI (Backend), MySQL 8.0 (Database), ChromaDB (Vector Notes), Groq API (Fast AI), Whisper (Speech-to-Text), Microsoft Edge-TTS (Voice).</a:t>
            </a:r>
          </a:p>
        </p:txBody>
      </p:sp>
    </p:spTree>
    <p:extLst>
      <p:ext uri="{BB962C8B-B14F-4D97-AF65-F5344CB8AC3E}">
        <p14:creationId xmlns:p14="http://schemas.microsoft.com/office/powerpoint/2010/main" val="11997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01D33-2B83-9A0C-A740-5B3B2C40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2C1023-E687-BA37-AA43-E14E164EC872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200" b="1">
                <a:solidFill>
                  <a:srgbClr val="C62828"/>
                </a:solidFill>
                <a:latin typeface="Arial"/>
              </a:defRPr>
              <a:buNone/>
            </a:pPr>
            <a:r>
              <a:t>REQUIREMENT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830ED-44EF-C7F9-4825-04BEA9595FFE}"/>
              </a:ext>
            </a:extLst>
          </p:cNvPr>
          <p:cNvSpPr txBox="1"/>
          <p:nvPr/>
        </p:nvSpPr>
        <p:spPr>
          <a:xfrm>
            <a:off x="960120" y="868680"/>
            <a:ext cx="1026871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Target Outcome &amp; Beneficiaries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Application Outcome: </a:t>
            </a:r>
            <a:r>
              <a:rPr sz="1150">
                <a:solidFill>
                  <a:srgbClr val="212121"/>
                </a:solidFill>
                <a:latin typeface="Arial"/>
              </a:rPr>
              <a:t>A full-stack, responsive web application that conducts automated, interactive, and voice-enabled mock technical interviews.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Target Users: </a:t>
            </a:r>
            <a:r>
              <a:rPr sz="1150">
                <a:solidFill>
                  <a:srgbClr val="212121"/>
                </a:solidFill>
                <a:latin typeface="Arial"/>
              </a:rPr>
              <a:t>Undergraduate engineering students preparing for placements, college training cells, and entry-level software job seekers.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Three Flexible Practice Modes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1. Job-Specific Mode: </a:t>
            </a:r>
            <a:r>
              <a:rPr sz="1150">
                <a:solidFill>
                  <a:srgbClr val="212121"/>
                </a:solidFill>
                <a:latin typeface="Arial"/>
              </a:rPr>
              <a:t>Student uploads resume PDF and target job description PDF. The system extracts skills, identifies missing skill gaps, and asks targeted questions.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2. Topic-Based Mode: </a:t>
            </a:r>
            <a:r>
              <a:rPr sz="1150">
                <a:solidFill>
                  <a:srgbClr val="212121"/>
                </a:solidFill>
                <a:latin typeface="Arial"/>
              </a:rPr>
              <a:t>Student selects core technical subjects for focused practice: Data Structures, Operating Systems, DBMS, Networks, OOP, System Design, or ML.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3. Syllabus Mode: </a:t>
            </a:r>
            <a:r>
              <a:rPr sz="1150">
                <a:solidFill>
                  <a:srgbClr val="212121"/>
                </a:solidFill>
                <a:latin typeface="Arial"/>
              </a:rPr>
              <a:t>Student uploads a university course syllabus (PDF or DOCX) to practice interview questions tailored directly to semester exam topics.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Core Features &amp; 5-Factor Scoring Rules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Curated Knowledge Base: </a:t>
            </a:r>
            <a:r>
              <a:rPr sz="1150">
                <a:solidFill>
                  <a:srgbClr val="212121"/>
                </a:solidFill>
                <a:latin typeface="Arial"/>
              </a:rPr>
              <a:t>Stores 402 verified computer science topic summaries across 8 subjects so every question is grounded and syllabus-aligned.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Adaptive Difficulty Rules: </a:t>
            </a:r>
            <a:r>
              <a:rPr sz="1150">
                <a:solidFill>
                  <a:srgbClr val="212121"/>
                </a:solidFill>
                <a:latin typeface="Arial"/>
              </a:rPr>
              <a:t>Score &gt;= 80%: increases difficulty level; 50% to 79%: maintains level; &lt; 50%: lowers difficulty to reinforce fundamentals.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Fair 5-Factor Rubric: </a:t>
            </a:r>
            <a:r>
              <a:rPr sz="1150">
                <a:solidFill>
                  <a:srgbClr val="212121"/>
                </a:solidFill>
                <a:latin typeface="Arial"/>
              </a:rPr>
              <a:t>Evaluates candidate answers from 0 to 100 on: Correctness (30%), Completeness (20%), Relevance (20%), Meaning Similarity (15%), and Concept Coverage (15%).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Instant Spoken Voice &amp; PDF Report: </a:t>
            </a:r>
            <a:r>
              <a:rPr sz="1150">
                <a:solidFill>
                  <a:srgbClr val="212121"/>
                </a:solidFill>
                <a:latin typeface="Arial"/>
              </a:rPr>
              <a:t>Speaks questions aloud instantly and generates a downloadable PDF performance report with clear improvement tips.</a:t>
            </a:r>
          </a:p>
        </p:txBody>
      </p:sp>
    </p:spTree>
    <p:extLst>
      <p:ext uri="{BB962C8B-B14F-4D97-AF65-F5344CB8AC3E}">
        <p14:creationId xmlns:p14="http://schemas.microsoft.com/office/powerpoint/2010/main" val="204063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9F80-F453-A0C9-DB74-A74C76ED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DF1F71-E7CA-1E78-DFFE-0CE48650C176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  <a:defRPr sz="3200" b="1">
                <a:solidFill>
                  <a:srgbClr val="C62828"/>
                </a:solidFill>
                <a:latin typeface="Arial"/>
              </a:defRPr>
              <a:buNone/>
            </a:pPr>
            <a:r>
              <a:t>DESIGN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46C55-BAB0-C00A-DDAE-4AA2D5E701A5}"/>
              </a:ext>
            </a:extLst>
          </p:cNvPr>
          <p:cNvSpPr txBox="1"/>
          <p:nvPr/>
        </p:nvSpPr>
        <p:spPr>
          <a:xfrm>
            <a:off x="59436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C62828"/>
                </a:solidFill>
                <a:latin typeface="Arial"/>
              </a:rPr>
              <a:t>System Architecture Layers</a:t>
            </a:r>
          </a:p>
          <a:p>
            <a:pPr>
              <a:spcAft>
                <a:spcPts val="300"/>
              </a:spcAft>
              <a:buNone/>
            </a:pPr>
            <a:r>
              <a:rPr sz="1100" b="1">
                <a:solidFill>
                  <a:srgbClr val="C62828"/>
                </a:solidFill>
                <a:latin typeface="Arial"/>
              </a:rPr>
              <a:t> • </a:t>
            </a:r>
            <a:r>
              <a:rPr sz="1100" b="1">
                <a:solidFill>
                  <a:srgbClr val="000000"/>
                </a:solidFill>
                <a:latin typeface="Arial"/>
              </a:rPr>
              <a:t>Presentation Tier: </a:t>
            </a:r>
            <a:r>
              <a:rPr sz="1100">
                <a:solidFill>
                  <a:srgbClr val="212121"/>
                </a:solidFill>
                <a:latin typeface="Arial"/>
              </a:rPr>
              <a:t>React single-page application with responsive interview room, microphone controls, and visual score charts.</a:t>
            </a:r>
          </a:p>
          <a:p>
            <a:pPr>
              <a:spcAft>
                <a:spcPts val="300"/>
              </a:spcAft>
              <a:buNone/>
            </a:pPr>
            <a:r>
              <a:rPr sz="1100" b="1">
                <a:solidFill>
                  <a:srgbClr val="C62828"/>
                </a:solidFill>
                <a:latin typeface="Arial"/>
              </a:rPr>
              <a:t> • </a:t>
            </a:r>
            <a:r>
              <a:rPr sz="1100" b="1">
                <a:solidFill>
                  <a:srgbClr val="000000"/>
                </a:solidFill>
                <a:latin typeface="Arial"/>
              </a:rPr>
              <a:t>Application Tier: </a:t>
            </a:r>
            <a:r>
              <a:rPr sz="1100">
                <a:solidFill>
                  <a:srgbClr val="212121"/>
                </a:solidFill>
                <a:latin typeface="Arial"/>
              </a:rPr>
              <a:t>FastAPI Python backend handling user login, resume parsing, question retrieval, and answer evaluation.</a:t>
            </a:r>
          </a:p>
          <a:p>
            <a:pPr>
              <a:spcAft>
                <a:spcPts val="300"/>
              </a:spcAft>
              <a:buNone/>
            </a:pPr>
            <a:r>
              <a:rPr sz="1100" b="1">
                <a:solidFill>
                  <a:srgbClr val="C62828"/>
                </a:solidFill>
                <a:latin typeface="Arial"/>
              </a:rPr>
              <a:t> • </a:t>
            </a:r>
            <a:r>
              <a:rPr sz="1100" b="1">
                <a:solidFill>
                  <a:srgbClr val="000000"/>
                </a:solidFill>
                <a:latin typeface="Arial"/>
              </a:rPr>
              <a:t>Storage Tier: </a:t>
            </a:r>
            <a:r>
              <a:rPr sz="1100">
                <a:solidFill>
                  <a:srgbClr val="212121"/>
                </a:solidFill>
                <a:latin typeface="Arial"/>
              </a:rPr>
              <a:t>MySQL 8.0 for candidate records + ChromaDB for high-speed retrieval of computer science subject notes.</a:t>
            </a:r>
          </a:p>
          <a:p>
            <a:pPr>
              <a:spcAft>
                <a:spcPts val="300"/>
              </a:spcAft>
              <a:buNone/>
            </a:pPr>
            <a:r>
              <a:rPr sz="1100" b="1">
                <a:solidFill>
                  <a:srgbClr val="C62828"/>
                </a:solidFill>
                <a:latin typeface="Arial"/>
              </a:rPr>
              <a:t> • </a:t>
            </a:r>
            <a:r>
              <a:rPr sz="1100" b="1">
                <a:solidFill>
                  <a:srgbClr val="000000"/>
                </a:solidFill>
                <a:latin typeface="Arial"/>
              </a:rPr>
              <a:t>AI Cloud Services: </a:t>
            </a:r>
            <a:r>
              <a:rPr sz="1100">
                <a:solidFill>
                  <a:srgbClr val="212121"/>
                </a:solidFill>
                <a:latin typeface="Arial"/>
              </a:rPr>
              <a:t>Groq Cloud API for sub-2-second question generation; Whisper for speech-to-text; Edge-TTS for voice.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C62828"/>
                </a:solidFill>
                <a:latin typeface="Arial"/>
              </a:rPr>
              <a:t>Interview Workflow &amp; Database Structure</a:t>
            </a:r>
          </a:p>
          <a:p>
            <a:pPr>
              <a:spcAft>
                <a:spcPts val="300"/>
              </a:spcAft>
              <a:buNone/>
            </a:pPr>
            <a:r>
              <a:rPr sz="1100" b="1">
                <a:solidFill>
                  <a:srgbClr val="C62828"/>
                </a:solidFill>
                <a:latin typeface="Arial"/>
              </a:rPr>
              <a:t> • </a:t>
            </a:r>
            <a:r>
              <a:rPr sz="1100" b="1">
                <a:solidFill>
                  <a:srgbClr val="000000"/>
                </a:solidFill>
                <a:latin typeface="Arial"/>
              </a:rPr>
              <a:t>Step-by-Step Flow: </a:t>
            </a:r>
            <a:r>
              <a:rPr sz="1100">
                <a:solidFill>
                  <a:srgbClr val="212121"/>
                </a:solidFill>
                <a:latin typeface="Arial"/>
              </a:rPr>
              <a:t>Student Logs In -&gt; Uploads Resume or Chooses Subject -&gt; System Fetches Relevant Subject Notes -&gt; AI Speaks Question -&gt; Student Responds by Voice -&gt; AI Grades Answer &amp; Updates Difficulty -&gt; Download Final Score Report.</a:t>
            </a:r>
          </a:p>
          <a:p>
            <a:pPr>
              <a:spcAft>
                <a:spcPts val="300"/>
              </a:spcAft>
              <a:buNone/>
            </a:pPr>
            <a:r>
              <a:rPr sz="1100" b="1">
                <a:solidFill>
                  <a:srgbClr val="C62828"/>
                </a:solidFill>
                <a:latin typeface="Arial"/>
              </a:rPr>
              <a:t> • </a:t>
            </a:r>
            <a:r>
              <a:rPr sz="1100" b="1">
                <a:solidFill>
                  <a:srgbClr val="000000"/>
                </a:solidFill>
                <a:latin typeface="Arial"/>
              </a:rPr>
              <a:t>MySQL Database Tables: </a:t>
            </a:r>
            <a:r>
              <a:rPr sz="1100">
                <a:solidFill>
                  <a:srgbClr val="212121"/>
                </a:solidFill>
                <a:latin typeface="Arial"/>
              </a:rPr>
              <a:t>7 normalized tables: users, resumes, job_descriptions, interview_sessions, interview_questions, answers, and answer_evaluations.</a:t>
            </a:r>
          </a:p>
          <a:p>
            <a:pPr>
              <a:spcAft>
                <a:spcPts val="300"/>
              </a:spcAft>
              <a:buNone/>
            </a:pPr>
            <a:r>
              <a:rPr sz="1100" b="1">
                <a:solidFill>
                  <a:srgbClr val="C62828"/>
                </a:solidFill>
                <a:latin typeface="Arial"/>
              </a:rPr>
              <a:t> • </a:t>
            </a:r>
            <a:r>
              <a:rPr sz="1100" b="1">
                <a:solidFill>
                  <a:srgbClr val="000000"/>
                </a:solidFill>
                <a:latin typeface="Arial"/>
              </a:rPr>
              <a:t>ChromaDB Vector Store: </a:t>
            </a:r>
            <a:r>
              <a:rPr sz="1100">
                <a:solidFill>
                  <a:srgbClr val="212121"/>
                </a:solidFill>
                <a:latin typeface="Arial"/>
              </a:rPr>
              <a:t>Stores 402 curated computer science topic chunks with 384-dimensional embeddings for high-speed semantic retrieval.</a:t>
            </a:r>
          </a:p>
        </p:txBody>
      </p:sp>
      <p:pic>
        <p:nvPicPr>
          <p:cNvPr id="5" name="Picture 4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4937760" cy="236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4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57B49-7958-0BE3-B6FF-B55F51CC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7CFC9-623F-33E6-06BA-2AE3FEC5A3CE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  <a:defRPr sz="3200" b="1">
                <a:solidFill>
                  <a:srgbClr val="C62828"/>
                </a:solidFill>
                <a:latin typeface="Arial"/>
              </a:defRPr>
              <a:buNone/>
            </a:pPr>
            <a:r>
              <a:t>DEVELOPMENT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908F0-8B71-8411-23F0-802D1DC84E21}"/>
              </a:ext>
            </a:extLst>
          </p:cNvPr>
          <p:cNvSpPr txBox="1"/>
          <p:nvPr/>
        </p:nvSpPr>
        <p:spPr>
          <a:xfrm>
            <a:off x="960120" y="868680"/>
            <a:ext cx="1026871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Coding Architecture &amp; Modular Subsystems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Frontend Structure: </a:t>
            </a:r>
            <a:r>
              <a:rPr sz="1150">
                <a:solidFill>
                  <a:srgbClr val="212121"/>
                </a:solidFill>
                <a:latin typeface="Arial"/>
              </a:rPr>
              <a:t>Built in React 18 and Vite with modular components: InterviewRoom (main interview screen), AudioRecorder (voice capture), and RadarChart (score display).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Backend Services: </a:t>
            </a:r>
            <a:r>
              <a:rPr sz="1150">
                <a:solidFill>
                  <a:srgbClr val="212121"/>
                </a:solidFill>
                <a:latin typeface="Arial"/>
              </a:rPr>
              <a:t>Organized into clear Python services: adaptive_engine.py (difficulty scaling), evaluation_service.py (answer scoring), voice_service.py (speech-to-text &amp; TTS streaming).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Tools Used: </a:t>
            </a:r>
            <a:r>
              <a:rPr sz="1150">
                <a:solidFill>
                  <a:srgbClr val="212121"/>
                </a:solidFill>
                <a:latin typeface="Arial"/>
              </a:rPr>
              <a:t>Python 3.10+, FastAPI 0.115, MySQL 8.0, ChromaDB 0.6.3, Groq LPU API, Microsoft Edge-TTS, ReportLab PDF generator.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Development Process &amp; Test Cases Execution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Agile Workflow: </a:t>
            </a:r>
            <a:r>
              <a:rPr sz="1150">
                <a:solidFill>
                  <a:srgbClr val="212121"/>
                </a:solidFill>
                <a:latin typeface="Arial"/>
              </a:rPr>
              <a:t>Developed incrementally using Agile methodology across 14 weekly sprint milestones, with regular mentor reviews and continuous testing.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In-Memory Voice Streaming: </a:t>
            </a:r>
            <a:r>
              <a:rPr sz="1150">
                <a:solidFill>
                  <a:srgbClr val="212121"/>
                </a:solidFill>
                <a:latin typeface="Arial"/>
              </a:rPr>
              <a:t>Engineered direct in-memory audio streaming without saving temporary audio files on disk, ensuring fast playback and zero file clutter.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TC-01 (User Auth): </a:t>
            </a:r>
            <a:r>
              <a:rPr sz="1150">
                <a:solidFill>
                  <a:srgbClr val="212121"/>
                </a:solidFill>
                <a:latin typeface="Arial"/>
              </a:rPr>
              <a:t>Tested student registration, login, and duplicate email prevention -&gt; PASSED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TC-02 (File Ingestion): </a:t>
            </a:r>
            <a:r>
              <a:rPr sz="1150">
                <a:solidFill>
                  <a:srgbClr val="212121"/>
                </a:solidFill>
                <a:latin typeface="Arial"/>
              </a:rPr>
              <a:t>Tested resume PDF upload, text parsing, and invalid file rejection -&gt; PASSED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TC-03 (Topic Retrieval): </a:t>
            </a:r>
            <a:r>
              <a:rPr sz="1150">
                <a:solidFill>
                  <a:srgbClr val="212121"/>
                </a:solidFill>
                <a:latin typeface="Arial"/>
              </a:rPr>
              <a:t>Tested retrieving relevant computer science subject notes from ChromaDB in &lt;= 80 ms -&gt; PASSED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TC-04 &amp; TC-05 (Adaptive Difficulty): </a:t>
            </a:r>
            <a:r>
              <a:rPr sz="1150">
                <a:solidFill>
                  <a:srgbClr val="212121"/>
                </a:solidFill>
                <a:latin typeface="Arial"/>
              </a:rPr>
              <a:t>Tested difficulty scaling: score &gt;= 80% advances level; score &lt; 50% lowers level -&gt; PASSED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TC-06 (Voice Synthesis): </a:t>
            </a:r>
            <a:r>
              <a:rPr sz="1150">
                <a:solidFill>
                  <a:srgbClr val="212121"/>
                </a:solidFill>
                <a:latin typeface="Arial"/>
              </a:rPr>
              <a:t>Tested AI spoken question generation streaming in &lt;= 1.2 seconds -&gt; PASSED</a:t>
            </a:r>
          </a:p>
        </p:txBody>
      </p:sp>
    </p:spTree>
    <p:extLst>
      <p:ext uri="{BB962C8B-B14F-4D97-AF65-F5344CB8AC3E}">
        <p14:creationId xmlns:p14="http://schemas.microsoft.com/office/powerpoint/2010/main" val="2950516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5A60F-8639-EADD-081C-DABFA82D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AF2B25-5DBC-2D18-F438-3E22A904864A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  <a:defRPr sz="3200" b="1">
                <a:solidFill>
                  <a:srgbClr val="C62828"/>
                </a:solidFill>
                <a:latin typeface="Arial"/>
              </a:defRPr>
              <a:buNone/>
            </a:pPr>
            <a:r>
              <a:t>PROJECT OUTCOME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3940E-46E6-40AE-D40B-0278B604695A}"/>
              </a:ext>
            </a:extLst>
          </p:cNvPr>
          <p:cNvSpPr txBox="1"/>
          <p:nvPr/>
        </p:nvSpPr>
        <p:spPr>
          <a:xfrm>
            <a:off x="960120" y="868680"/>
            <a:ext cx="1026871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Summary of Deliverables &amp; Performance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Working Prototype: </a:t>
            </a:r>
            <a:r>
              <a:rPr sz="1150">
                <a:solidFill>
                  <a:srgbClr val="212121"/>
                </a:solidFill>
                <a:latin typeface="Arial"/>
              </a:rPr>
              <a:t>Successfully built a complete web platform capable of conducting interactive, adaptive technical mock interviews.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Zero Hallucinations: </a:t>
            </a:r>
            <a:r>
              <a:rPr sz="1150">
                <a:solidFill>
                  <a:srgbClr val="212121"/>
                </a:solidFill>
                <a:latin typeface="Arial"/>
              </a:rPr>
              <a:t>100% of technical questions are grounded in verified computer science topic notes from local ChromaDB.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Fast Response Times: </a:t>
            </a:r>
            <a:r>
              <a:rPr sz="1150">
                <a:solidFill>
                  <a:srgbClr val="212121"/>
                </a:solidFill>
                <a:latin typeface="Arial"/>
              </a:rPr>
              <a:t>AI generates questions and grades answers in under 2.5 seconds, eliminating long, awkward pauses during interviews.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Comprehensive Diagnostic Report: </a:t>
            </a:r>
            <a:r>
              <a:rPr sz="1150">
                <a:solidFill>
                  <a:srgbClr val="212121"/>
                </a:solidFill>
                <a:latin typeface="Arial"/>
              </a:rPr>
              <a:t>Generates downloadable PDF reports with detailed scores, topic radar charts, and clear advice on how to improve.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Key Challenges Faced &amp; How We Solved Them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Challenge 1: Voice Delay: </a:t>
            </a:r>
            <a:r>
              <a:rPr sz="1150">
                <a:solidFill>
                  <a:srgbClr val="212121"/>
                </a:solidFill>
                <a:latin typeface="Arial"/>
              </a:rPr>
              <a:t>Saving audio files to disk caused noticeable delay -&gt; Solved by streaming audio directly through memory in under 1.2 seconds.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Challenge 2: Inconsistent AI Grading: </a:t>
            </a:r>
            <a:r>
              <a:rPr sz="1150">
                <a:solidFill>
                  <a:srgbClr val="212121"/>
                </a:solidFill>
                <a:latin typeface="Arial"/>
              </a:rPr>
              <a:t>Standard AI prompts gave arbitrary marks -&gt; Solved by creating a 5-factor scoring rubric that checks correctness, completeness, and meaning.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Challenge 3: Varied Resume Formats: </a:t>
            </a:r>
            <a:r>
              <a:rPr sz="1150">
                <a:solidFill>
                  <a:srgbClr val="212121"/>
                </a:solidFill>
                <a:latin typeface="Arial"/>
              </a:rPr>
              <a:t>Different resume layouts caused text parsing errors -&gt; Solved by using PyMuPDF stream extractors with backup pattern matching.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Improvement Opportunities &amp; Publication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Spaced Revision Reminders: </a:t>
            </a:r>
            <a:r>
              <a:rPr sz="1150">
                <a:solidFill>
                  <a:srgbClr val="212121"/>
                </a:solidFill>
                <a:latin typeface="Arial"/>
              </a:rPr>
              <a:t>Planning an automated schedule to re-test students on topics they struggled with in previous mock interviews.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Research Paper Submission: </a:t>
            </a:r>
            <a:r>
              <a:rPr sz="1150">
                <a:solidFill>
                  <a:srgbClr val="212121"/>
                </a:solidFill>
                <a:latin typeface="Arial"/>
              </a:rPr>
              <a:t>Manuscript under preparation: 'Personalized Technical Mock Interview Preparation with RAG and Bloom's Taxonomy' for conference submission.</a:t>
            </a:r>
          </a:p>
        </p:txBody>
      </p:sp>
    </p:spTree>
    <p:extLst>
      <p:ext uri="{BB962C8B-B14F-4D97-AF65-F5344CB8AC3E}">
        <p14:creationId xmlns:p14="http://schemas.microsoft.com/office/powerpoint/2010/main" val="363739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1280-C949-031A-6FDE-067206D2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52FD9E-27D6-1D00-9DC3-ECE1FC7A5D0D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  <a:defRPr sz="3200" b="1">
                <a:solidFill>
                  <a:srgbClr val="C62828"/>
                </a:solidFill>
                <a:latin typeface="Arial"/>
              </a:defRPr>
              <a:buNone/>
            </a:pPr>
            <a:r>
              <a:t>CONCLUSION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C84FF-E795-E669-D7A2-E8F984B1FA05}"/>
              </a:ext>
            </a:extLst>
          </p:cNvPr>
          <p:cNvSpPr txBox="1"/>
          <p:nvPr/>
        </p:nvSpPr>
        <p:spPr>
          <a:xfrm>
            <a:off x="960120" y="868680"/>
            <a:ext cx="1026871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Project Summary &amp; Educational Value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Practical Impact: </a:t>
            </a:r>
            <a:r>
              <a:rPr sz="1150">
                <a:solidFill>
                  <a:srgbClr val="212121"/>
                </a:solidFill>
                <a:latin typeface="Arial"/>
              </a:rPr>
              <a:t>Replaces outdated static question banks with a smart, adaptive interview simulator that feels like a real campus placement interview.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Boosting Student Confidence: </a:t>
            </a:r>
            <a:r>
              <a:rPr sz="1150">
                <a:solidFill>
                  <a:srgbClr val="212121"/>
                </a:solidFill>
                <a:latin typeface="Arial"/>
              </a:rPr>
              <a:t>Helps students understand exactly which technical topics they are weak in, reducing interview anxiety and improving placement outcomes.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New Technical Skills Learned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Vector Databases &amp; Retrieval: </a:t>
            </a:r>
            <a:r>
              <a:rPr sz="1150">
                <a:solidFill>
                  <a:srgbClr val="212121"/>
                </a:solidFill>
                <a:latin typeface="Arial"/>
              </a:rPr>
              <a:t>Hands-on experience using ChromaDB and SentenceTransformers for semantic document search on local CPU.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Adaptive Learning Systems: </a:t>
            </a:r>
            <a:r>
              <a:rPr sz="1150">
                <a:solidFill>
                  <a:srgbClr val="212121"/>
                </a:solidFill>
                <a:latin typeface="Arial"/>
              </a:rPr>
              <a:t>Implementing educational cognitive models (Bloom's Taxonomy) into software logic.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Full-Stack Decoupled Development: </a:t>
            </a:r>
            <a:r>
              <a:rPr sz="1150">
                <a:solidFill>
                  <a:srgbClr val="212121"/>
                </a:solidFill>
                <a:latin typeface="Arial"/>
              </a:rPr>
              <a:t>Connecting a modern React frontend with asynchronous Python FastAPI services and a MySQL database.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Web Audio Engineering: </a:t>
            </a:r>
            <a:r>
              <a:rPr sz="1150">
                <a:solidFill>
                  <a:srgbClr val="212121"/>
                </a:solidFill>
                <a:latin typeface="Arial"/>
              </a:rPr>
              <a:t>Recording audio from the browser and streaming neural voice back without disk files.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350" b="1">
                <a:solidFill>
                  <a:srgbClr val="C62828"/>
                </a:solidFill>
                <a:latin typeface="Arial"/>
              </a:rPr>
              <a:t>Solution Demo &amp; Project Links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Frontend Application URL: </a:t>
            </a:r>
            <a:r>
              <a:rPr sz="1150">
                <a:solidFill>
                  <a:srgbClr val="212121"/>
                </a:solidFill>
                <a:latin typeface="Arial"/>
              </a:rPr>
              <a:t>http://localhost:5173 (Interactive student interview portal and analytics dashboard)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Backend API Documentation: </a:t>
            </a:r>
            <a:r>
              <a:rPr sz="1150">
                <a:solidFill>
                  <a:srgbClr val="212121"/>
                </a:solidFill>
                <a:latin typeface="Arial"/>
              </a:rPr>
              <a:t>http://localhost:8000/docs (FastAPI interactive Swagger UI for all endpoints)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C62828"/>
                </a:solidFill>
                <a:latin typeface="Arial"/>
              </a:rPr>
              <a:t>   • </a:t>
            </a:r>
            <a:r>
              <a:rPr sz="1150" b="1">
                <a:solidFill>
                  <a:srgbClr val="000000"/>
                </a:solidFill>
                <a:latin typeface="Arial"/>
              </a:rPr>
              <a:t>GitHub Source Repository: </a:t>
            </a:r>
            <a:r>
              <a:rPr sz="1150">
                <a:solidFill>
                  <a:srgbClr val="212121"/>
                </a:solidFill>
                <a:latin typeface="Arial"/>
              </a:rPr>
              <a:t>https://github.com/konduriabhiram29-ai/SmartInterview-main (Complete source code and documentation)</a:t>
            </a:r>
          </a:p>
        </p:txBody>
      </p:sp>
    </p:spTree>
    <p:extLst>
      <p:ext uri="{BB962C8B-B14F-4D97-AF65-F5344CB8AC3E}">
        <p14:creationId xmlns:p14="http://schemas.microsoft.com/office/powerpoint/2010/main" val="1146543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E8147-357D-7FED-7729-847B9FCECC3E}"/>
              </a:ext>
            </a:extLst>
          </p:cNvPr>
          <p:cNvSpPr txBox="1"/>
          <p:nvPr/>
        </p:nvSpPr>
        <p:spPr>
          <a:xfrm>
            <a:off x="1371600" y="2011680"/>
            <a:ext cx="9445752" cy="320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tabLst/>
              <a:defRPr sz="4400" b="1">
                <a:solidFill>
                  <a:srgbClr val="C62828"/>
                </a:solidFill>
                <a:latin typeface="Arial"/>
              </a:defRPr>
              <a:buNone/>
            </a:pPr>
            <a:r>
              <a:t>Thank you!</a:t>
            </a:r>
          </a:p>
          <a:p>
            <a:pPr algn="ctr">
              <a:spcAft>
                <a:spcPts val="1200"/>
              </a:spcAft>
              <a:buNone/>
              <a:defRPr sz="2000" b="1">
                <a:solidFill>
                  <a:srgbClr val="000000"/>
                </a:solidFill>
                <a:latin typeface="Arial"/>
              </a:defRPr>
            </a:pPr>
            <a:r>
              <a:t>Personalized Technical Interview Preparation in Higher Education</a:t>
            </a:r>
          </a:p>
          <a:p>
            <a:pPr algn="ctr">
              <a:spcAft>
                <a:spcPts val="1600"/>
              </a:spcAft>
              <a:buNone/>
              <a:defRPr sz="1600" b="1">
                <a:solidFill>
                  <a:srgbClr val="000000"/>
                </a:solidFill>
                <a:latin typeface="Arial"/>
              </a:defRPr>
            </a:pPr>
            <a:r>
              <a:t>Open for Questions &amp; Discussion</a:t>
            </a:r>
          </a:p>
          <a:p>
            <a:pPr algn="ctr">
              <a:buNone/>
              <a:defRPr sz="1300">
                <a:solidFill>
                  <a:srgbClr val="555555"/>
                </a:solidFill>
                <a:latin typeface="Arial"/>
              </a:defRPr>
            </a:pPr>
            <a:r>
              <a:t>Team G-1392  |  Department of Computer Science and Engineering (AI&amp;ML)  |  KMIT</a:t>
            </a:r>
          </a:p>
        </p:txBody>
      </p:sp>
    </p:spTree>
    <p:extLst>
      <p:ext uri="{BB962C8B-B14F-4D97-AF65-F5344CB8AC3E}">
        <p14:creationId xmlns:p14="http://schemas.microsoft.com/office/powerpoint/2010/main" val="24789780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4758</TotalTime>
  <Words>427</Words>
  <Application>Microsoft Office PowerPoint</Application>
  <PresentationFormat>Widescreen</PresentationFormat>
  <Paragraphs>56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Asha Sheldon</dc:creator>
  <cp:lastModifiedBy>Stravis2 </cp:lastModifiedBy>
  <cp:revision>26</cp:revision>
  <dcterms:created xsi:type="dcterms:W3CDTF">2024-06-11T09:24:19Z</dcterms:created>
  <dcterms:modified xsi:type="dcterms:W3CDTF">2026-09-02T09:26:24Z</dcterms:modified>
</cp:coreProperties>
</file>