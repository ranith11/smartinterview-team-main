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200" b="1">
                <a:solidFill>
                  <a:srgbClr val="1A365D"/>
                </a:solidFill>
              </a:defRPr>
            </a:pPr>
            <a:r>
              <a:t>SmartInterview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900">
                <a:solidFill>
                  <a:srgbClr val="1E293B"/>
                </a:solidFill>
              </a:defRPr>
            </a:pPr>
            <a:r>
              <a:t>Personalized Technical Interview Preparation in Higher Education</a:t>
            </a:r>
          </a:p>
          <a:p>
            <a:pPr>
              <a:defRPr sz="1900">
                <a:solidFill>
                  <a:srgbClr val="1E293B"/>
                </a:solidFill>
              </a:defRPr>
            </a:pPr>
            <a:r>
              <a:t>Grounding via Hybrid Graph RAG &amp; Deterministic Bloom's Scaffolding</a:t>
            </a:r>
          </a:p>
          <a:p>
            <a:pPr>
              <a:defRPr sz="1600">
                <a:solidFill>
                  <a:srgbClr val="1E293B"/>
                </a:solidFill>
              </a:defRPr>
            </a:pPr>
          </a:p>
          <a:p>
            <a:pPr>
              <a:defRPr sz="1600">
                <a:solidFill>
                  <a:srgbClr val="1E293B"/>
                </a:solidFill>
              </a:defRPr>
            </a:pPr>
            <a:r>
              <a:t>Team ID: Team G-1392 | Department of CSE (AI &amp; ML)</a:t>
            </a:r>
          </a:p>
          <a:p>
            <a:pPr>
              <a:defRPr sz="1600">
                <a:solidFill>
                  <a:srgbClr val="1E293B"/>
                </a:solidFill>
              </a:defRPr>
            </a:pPr>
            <a:r>
              <a:t>Keshav Memorial Institute of Technology (KMIT), Hyderabad</a:t>
            </a:r>
          </a:p>
          <a:p>
            <a:pPr>
              <a:defRPr sz="1600">
                <a:solidFill>
                  <a:srgbClr val="1E293B"/>
                </a:solidFill>
              </a:defRPr>
            </a:pPr>
            <a:r>
              <a:t>Faculty Mentor: Dr. TVG Sridevi, Professor,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Literature Gaps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The Problem in Higher Education Technical Recruitment: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Massive student cohorts face high anxiety, lack of articulation practice, and high placement attrition.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Static coding portals (LeetCode, HackerRank) test binary syntax but cannot assess architectural reasoning or verbal dialogue.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Critical Gaps in Foundational 2026 Base Papers: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Base Paper 1 (Nagarajan et al., Feb 2026 — IJMRR):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Built strictly for enterprise recruiters to screen candidates out.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Offers zero student diagnostic feedback, no study roadmap, and volatile session state.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Base Paper 2 (Wahid et al., March 2026 — IJERT):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Silent AI: strictly one-way voice (Whisper STT only, candidate must read text questions).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Rigid domain dropdowns without custom Job Description (JD) matching.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Shared Vulnerabilities in LLM Chatbots: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Hallucinations on complex system topics, arbitrary 'vibe grading', and chaotic question jumps.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Proposed Solution: SmartInterview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An Adaptive, Grounded Mock Interview &amp; Remediation Platform: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 Distinct Institutional Practice Modes: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- 1. Job-Specific Mode: Set-theoretic Resume-to-JD alignment (Group A Overlap vs. Group B Gaps).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- 2. Topic-Based Mode: Targeted deep-dive across 8 core Computer Science domains.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- 3. Semester Syllabus Mode: Dynamic vector isolation for university course syllabi.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Hybrid Graph RAG Grounding Engine: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Combines Dense Semantic ChromaDB, BM25Okapi Lexical matching, and NetworkX Graph Traversal.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Eliminates technical hallucinations with 100% Hit@3 accuracy over 402 curated CS chunks.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Deterministic Cognitive Scaffolding (Bloom's Taxonomy):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Finite state machine advancing through Remember, Understand, Apply, Analyze, Evaluate, Create.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Objective 5-Factor Answer Evaluation Rubric: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Replaces subjective LLM grading with verifiable mathematical scoring and S-BERT cosine similarity.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Remedial Mastery Mode: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Diagnoses weak prerequisite concepts and provides 1-click focused retesting.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Decoupled 4-Tier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Zero-Budget, High-Throughput Engineering: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1. Presentation Tier (Client):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React 18 SPA + Vite 6 + Tailwind CSS.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HTML5 Web Audio streaming &amp; visualizers.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2. Application Tier (Backend Microservices):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FastAPI 0.115 ASGI + Python 3.10+ + Uvicorn.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Pydantic v2 validation + HS256 JWT auth.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3. Persistence &amp; Vector Storage Tier: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MySQL 8.0 (InnoDB): 7 relational tables.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ChromaDB 0.6.3: 384-dim local HNSW vector index.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NetworkX: In-memory prerequisite knowledge graph.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4. Cloud Inference &amp; Neural Voice Tier: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Groq Cloud LPU: Llama 3.3 70B &amp; Whisper Large-v3.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Microsoft Edge-TTS: In-memory byte streaming (&lt;= 1.2s).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33020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Core Workflow &amp; Context Ingestion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Personalized Technical Staging Loop: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1. Document Extraction &amp; Entity Recognition: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PyMuPDF parses candidate Resume and target Job Description.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Regex filters isolate technical skills and project details.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2. Set-Theoretic Skill Gap Analysis: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Group A (Role Overlap): Skills present in both Resume &amp; JD.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Group B (Role Gaps): Skills required by JD but missing in Resume.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3. Adaptive Question Selection: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Grounds query context in verified knowledge chunks.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Tests Group A for depth and Group B for adaptability.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4. Audio Transcription &amp; 5-Signal Evaluation: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Speech captured via Whisper, evaluated across 5 metrics.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5. Bloom State Machine Progression: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Scores &gt;= 80% advance level; scores &lt; 50% trigger remediation.</a:t>
            </a:r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120640" cy="42271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Hybrid Graph RAG Engine: Multi-Signal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Why Vanilla Vector Search Fails: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Dense vectors capture broad semantic similarity but miss exact acronyms (e.g. 2PL, ACID, B-Tree).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Dense search cannot trace prerequisite concept hierarchies (e.g., Locks -&gt; Concurrency -&gt; Transactions).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Tri-Retrieval Architecture &amp; Fusion: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1. Dense Semantic Retrieval (ChromaDB + all-MiniLM-L6-v2):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- 384-dimensional cosine index across 402 curated CS topic chunks in 8 domains.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2. Lexical Keyword Retrieval (BM25Okapi):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Deterministic exact token matching for algorithms, symbols, and architectural terms.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3. Knowledge Graph Traversal (NetworkX In-Memory / Neo4j):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Directed ontology of 50 CS concepts, prerequisite edges, and Bloom cognitive depths.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Reciprocal Rank Fusion (RRF, k=60):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Combines rankings via RRF(d) = sum(1 / (k + rank_i(d))) with canonical chunk deduplication.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Empirical Benchmark Results (33 Domain Test Queries):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Hit@1 = 96.97% | Hit@3 = 100.00% | Mean Reciprocal Rank (MRR) = 0.9798 | Retrieval Latency = 24.6 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Relational Data Schema &amp; ACID Storage (ERD)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Robust 7-Table Relational Schema (MySQL 8.0):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`users`: Candidate identity, bcrypt password hash.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`resumes`: PyMuPDF parsed skills, work experience, education.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`job_descriptions`: Target JD entities and domain skills.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`interview_sessions`: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Session difficulty, question count, status.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Serialized `AdaptiveState` JSON &amp; current Bloom level.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`interview_questions`: Question text, Bloom tier, skill, RAG chunk.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`answers`: Candidate audio transcription and response.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`answer_evaluations`: 5-factor mathematical rubric metrics.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Database Integrity Guarantees: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Foreign keys with CASCADE on session deletion.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Strict ACID compliance with InnoDB engine.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JSON state serialization prevents mid-session data loss.</a:t>
            </a:r>
          </a:p>
        </p:txBody>
      </p:sp>
      <p:pic>
        <p:nvPicPr>
          <p:cNvPr id="5" name="Picture 4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2286000" cy="54478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Deterministic Cognitive Scaffolding (Bloom's Taxonomy)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Strict Pedagogical Progression (Replacing Arbitrary LLM Difficulty):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6 Cognitive Levels: Remember (1) -&gt; Understand (2) -&gt; Apply (3) -&gt; Analyze (4) -&gt; Evaluate (5) -&gt; Create (6).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 Difficulty Tiers: Easy, Medium, Hard (enforcing 18 distinct cognitive complexity states).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State Machine Transition Rules: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Score &gt;= 80% (Mastery Demonstrated):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Advances Bloom cognitive level (+1) or advances difficulty tier (Easy -&gt; Medium -&gt; Hard).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Ceiling protection: At Create (Level 6) + Hard, scores maintain maximum cognitive depth.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Score 50% - 79% (Adequate Understanding):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Maintains current Bloom level and difficulty tier for concept reinforcement.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Score &lt; 50% (Foundational Remediation):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Regresses Bloom cognitive level (-1) or steps down difficulty to rebuild core principles.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Floor protection: At Remember (Level 1) + Easy, floors cleanly without negative underflow.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Weakness-Biased Skill Selection Algorithm: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Automatically samples next questions from lowest-scoring skills to eliminate competency blind spots.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Multi-Signal Answer Evaluation (Eliminating 'Vibe Grading')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Objective 5-Part Mathematical Scoring Rubric: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1. Technical Correctness (30% Weight):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LLM logical reasoning and factual accuracy verified against retrieved ground truth.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2. Completeness (20% Weight):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Coverage of all required problem constraints, trade-offs, and edge cases.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3. Relevance (20% Weight):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Directness, architectural focus, and absence of conversational filler rhetoric.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4. Semantic Cosine Similarity (15% Weight):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S-BERT (all-MiniLM-L6-v2) cosine distance between candidate answer and ground-truth chunk.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5. Explicit Concept Coverage (15% Weight):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Deterministic keyword and entity regex matching for mandatory technical concepts.</a:t>
            </a:r>
          </a:p>
          <a:p>
            <a:pPr>
              <a:spcAft>
                <a:spcPts val="500"/>
              </a:spcAft>
              <a:defRPr sz="1400">
                <a:solidFill>
                  <a:srgbClr val="1E293B"/>
                </a:solidFill>
              </a:defRPr>
            </a:pPr>
            <a:r>
              <a:t>Why This Multi-Signal Formula?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Zero subjectivity: Same answer yields identical, reproducible scores across repeated runs.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Penalizes confident but factually incorrect responses that fool standard LLM judges.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Live Spoken Interview Room &amp; Voice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Real-Time Two-Way Conversational Dialogue: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Text-to-Speech (Microsoft Edge-TTS):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High-fidelity en-US-ChristopherNeural voice profile.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Synthesized directly into in-memory io.BytesIO buffers.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Audio generation latency &lt;= 1.2 seconds (zero disk overhead).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Speech-to-Text (Groq Whisper Large-v3):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High-accuracy neural speech transcription.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Prompt-biased with CS technical terminology.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Interactive Visual Interface: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Current Bloom cognitive level tag (e.g., 'Analyze' Level 4).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Real-time speech recognition status &amp; audio controls.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Fallback text input for accessibility and quiet environments.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Sub-2.5s end-to-end conversational turnaround.</a:t>
            </a:r>
          </a:p>
        </p:txBody>
      </p:sp>
      <p:pic>
        <p:nvPicPr>
          <p:cNvPr id="5" name="Picture 4" descr="13_live_interview_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Comprehensive Results Scorecard &amp;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Multi-Dimensional Candidate Feedback: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Overall Session Score &amp; Performance Tier: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Overall percentage with Bloom cognitive depth indicators.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5-Axis Radar Breakdown Chart: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Correctness, Completeness, Relevance, Semantic, Concept Coverage.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Question-by-Question Granular Transcripts: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Candidate response vs. ground truth reference context.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Concrete technical strengths and identified gaps.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Actionable Recommendations: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AI-curated study priorities tagged by urgency.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Automated PDF Export: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- 1-click downloadable formal technical evaluation report.</a:t>
            </a:r>
          </a:p>
        </p:txBody>
      </p:sp>
      <p:pic>
        <p:nvPicPr>
          <p:cNvPr id="5" name="Picture 4" descr="11_results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Remedial Mastery Mode: Turning Gaps into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From Evaluation to Accelerated Upskilling: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Root-Cause Knowledge Graph Traversal: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When candidate scores &lt; 50%, engine queries NetworkX graph for missing prerequisite concepts.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Automated AI Curriculum &amp; Study Guide Synthesis: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Generates high-yield study notes, core concepts, and 'where candidates typically lose marks'.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Isolated Prerequisite Knowledge Chunks: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Retrieves exact textbook references for targeted review.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1-Click Focused Retest Workflow: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Candidates can immediately launch a focused mock interview on their weakest topics.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Progress is re-assessed to track score recovery.</a:t>
            </a:r>
          </a:p>
        </p:txBody>
      </p:sp>
      <p:pic>
        <p:nvPicPr>
          <p:cNvPr id="5" name="Picture 4" descr="12_remedial_mastery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SMARTINTERVIEW — ACADEMIC VIVA &amp; 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A365D"/>
                </a:solidFill>
              </a:defRPr>
            </a:pPr>
            <a:r>
              <a:t>System Verification: 355-Test Matrix (100% Passing)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Exhaustive Test Coverage Across All 18 Engineering Phases: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355 Total Automated Unit, Integration &amp; Validation Tests (87.90s execution, 100% Pass Rate):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1: Dense Vector RAG Baseline &amp; S-BERT embeddings (25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2-4: Knowledge Graph Schema, Builder, Storage &amp; Canonical Chunk Resolution (69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5: BM25 Lexical Keyword Retrieval Engine &amp; Tokenization (34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6-7: Graph Traversal Retrieval &amp; Hybrid Reciprocal Rank Fusion (48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8: Reranker Validation &amp; Multi-Signal Scoring (36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9-10: Pipeline Integration &amp; Bloom's Cognitive Progression (39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11-13: Security Audit, Evaluation Metrics &amp; Golden Dataset Auditing (48 tests)</a:t>
            </a:r>
          </a:p>
          <a:p>
            <a:pPr lvl="1">
              <a:spcAft>
                <a:spcPts val="400"/>
              </a:spcAft>
              <a:defRPr sz="1300">
                <a:solidFill>
                  <a:srgbClr val="1E293B"/>
                </a:solidFill>
              </a:defRPr>
            </a:pPr>
            <a:r>
              <a:t>- Phase 14-18: Frozen Baseline, Hybrid Evaluation &amp; Edge Case Safeguards (56 tests)</a:t>
            </a:r>
          </a:p>
          <a:p>
            <a:pPr>
              <a:spcAft>
                <a:spcPts val="600"/>
              </a:spcAft>
              <a:defRPr b="1" sz="1600">
                <a:solidFill>
                  <a:srgbClr val="2563EB"/>
                </a:solidFill>
              </a:defRPr>
            </a:pPr>
            <a:r>
              <a:t>Key Verified Functional Gates: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TC-01: Duplicate auth rejected | TC-02: Corrupt uploads safely handled | TC-03: Sub-25ms retrieval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TC-04: Deterministic Bloom state progression | TC-05: Remedial graph prerequisite traversal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</a:defRPr>
            </a:pPr>
            <a:r>
              <a:t>• TC-06: In-memory Edge-TTS &lt;= 1.2s | TC-07: 5-signal rubric convergence | TC-08: Starvation safeguards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800" b="1">
                <a:solidFill>
                  <a:srgbClr val="1A365D"/>
                </a:solidFill>
              </a:defRPr>
            </a:pPr>
            <a:r>
              <a:t>Conclusion &amp; Viva Q&amp;A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700">
                <a:solidFill>
                  <a:srgbClr val="1E293B"/>
                </a:solidFill>
              </a:defRPr>
            </a:pPr>
            <a:r>
              <a:t>SmartInterview: Grounded, Adaptive, and Deterministic Technical Interview Preparation.</a:t>
            </a:r>
          </a:p>
          <a:p>
            <a:pPr>
              <a:defRPr sz="1700">
                <a:solidFill>
                  <a:srgbClr val="1E293B"/>
                </a:solidFill>
              </a:defRPr>
            </a:pP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• Curated 402-Chunk Hybrid Graph RAG eliminating LLM hallucinations.</a:t>
            </a: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• Deterministic Bloom's Taxonomy cognitive progression.</a:t>
            </a: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• Objective 5-Signal mathematical evaluation eliminating 'vibe grading'.</a:t>
            </a: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• Remedial Mastery Mode for targeted upskilling &amp; focused retests.</a:t>
            </a: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• Low-latency, two-way neural voice interaction at zero infrastructure cost.</a:t>
            </a:r>
          </a:p>
          <a:p>
            <a:pPr>
              <a:defRPr sz="1500">
                <a:solidFill>
                  <a:srgbClr val="1E293B"/>
                </a:solidFill>
              </a:defRPr>
            </a:pPr>
          </a:p>
          <a:p>
            <a:pPr>
              <a:defRPr sz="1500">
                <a:solidFill>
                  <a:srgbClr val="1E293B"/>
                </a:solidFill>
              </a:defRPr>
            </a:pPr>
            <a:r>
              <a:t>Thank you! We invite questions and technical discussion from the honorable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