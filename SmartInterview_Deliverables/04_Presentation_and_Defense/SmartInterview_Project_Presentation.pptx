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A365D"/>
                </a:solidFill>
              </a:defRPr>
            </a:pPr>
            <a:r>
              <a:t>SmartInterview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Personalized Technical Interview Preparation in Higher Education</a:t>
            </a:r>
          </a:p>
          <a:p>
            <a:pPr>
              <a:defRPr sz="1800"/>
            </a:pPr>
            <a:r>
              <a:t>Team ID: Team G-1392 | Department of CSE (AI &amp; ML)</a:t>
            </a:r>
          </a:p>
          <a:p>
            <a:pPr>
              <a:defRPr sz="1800"/>
            </a:pPr>
            <a:r>
              <a:t>Keshav Memorial Institute of Technology (KMIT)</a:t>
            </a:r>
          </a:p>
          <a:p>
            <a:pPr>
              <a:defRPr sz="1800"/>
            </a:pPr>
            <a:r>
              <a:t>Faculty Mentor: Dr. TVG Sridevi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Introduction &amp; Literature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The Challenge in Technical Campus Recruitment:</a:t>
            </a:r>
          </a:p>
          <a:p>
            <a:pPr>
              <a:spcAft>
                <a:spcPts val="600"/>
              </a:spcAft>
              <a:defRPr sz="1700"/>
            </a:pPr>
            <a:r>
              <a:t>• Disconnect between static academic curricula and dynamic industry job descriptions.</a:t>
            </a:r>
          </a:p>
          <a:p>
            <a:pPr>
              <a:spcAft>
                <a:spcPts val="600"/>
              </a:spcAft>
              <a:defRPr sz="1700"/>
            </a:pPr>
            <a:r>
              <a:t>• High student anxiety, lack of verbal articulation practice, and high placement attrition.</a:t>
            </a:r>
          </a:p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Gaps Identified in Foundational 2026 Literature:</a:t>
            </a:r>
          </a:p>
          <a:p>
            <a:pPr>
              <a:spcAft>
                <a:spcPts val="600"/>
              </a:spcAft>
              <a:defRPr sz="1700"/>
            </a:pPr>
            <a:r>
              <a:t>• Base Paper 1 (Nagarajan et al., Feb 2026): Enterprise recruiter screening filter; lacks candidate feedback, diagnostic reports, code sandboxes, or curriculum grounding.</a:t>
            </a:r>
          </a:p>
          <a:p>
            <a:pPr>
              <a:spcAft>
                <a:spcPts val="600"/>
              </a:spcAft>
              <a:defRPr sz="1700"/>
            </a:pPr>
            <a:r>
              <a:t>• Base Paper 2 (Wahid et al., March 2026): Voice is strictly one-way (silent AI, student reads text); rigid domain dropdowns without custom JD matching.</a:t>
            </a:r>
          </a:p>
          <a:p>
            <a:pPr>
              <a:spcAft>
                <a:spcPts val="600"/>
              </a:spcAft>
              <a:defRPr sz="1700"/>
            </a:pPr>
            <a:r>
              <a:t>• Core Gap: Students lack a grounded, low-latency, two-way conversational coach with objective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Proposed Solution: SmartInterview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An AI-Powered, Adaptive Mock Interview Platform for Higher Education:</a:t>
            </a:r>
          </a:p>
          <a:p>
            <a:pPr>
              <a:spcAft>
                <a:spcPts val="600"/>
              </a:spcAft>
              <a:defRPr sz="1700"/>
            </a:pPr>
            <a:r>
              <a:t>• Three Distinct Operational Modes:</a:t>
            </a:r>
          </a:p>
          <a:p>
            <a:pPr lvl="1">
              <a:spcAft>
                <a:spcPts val="400"/>
              </a:spcAft>
              <a:defRPr sz="1500"/>
            </a:pPr>
            <a:r>
              <a:t>- Job-Specific Mode: Set-theoretic Resume-to-JD mapping (Group A Overlap vs. Group B Gaps).</a:t>
            </a:r>
          </a:p>
          <a:p>
            <a:pPr lvl="1">
              <a:spcAft>
                <a:spcPts val="400"/>
              </a:spcAft>
              <a:defRPr sz="1500"/>
            </a:pPr>
            <a:r>
              <a:t>- Topic-Based Mode: Granular technical drilling across chosen computer science domains.</a:t>
            </a:r>
          </a:p>
          <a:p>
            <a:pPr lvl="1">
              <a:spcAft>
                <a:spcPts val="400"/>
              </a:spcAft>
              <a:defRPr sz="1500"/>
            </a:pPr>
            <a:r>
              <a:t>- Semester Syllabus Mode: Isolated vector collections generated dynamically from syllabus PDFs.</a:t>
            </a:r>
          </a:p>
          <a:p>
            <a:pPr>
              <a:spcAft>
                <a:spcPts val="600"/>
              </a:spcAft>
              <a:defRPr sz="1700"/>
            </a:pPr>
            <a:r>
              <a:t>• Curated RAG Grounding: ChromaDB over 402 CS chunks to eliminate hallucinations at the root.</a:t>
            </a:r>
          </a:p>
          <a:p>
            <a:pPr>
              <a:spcAft>
                <a:spcPts val="600"/>
              </a:spcAft>
              <a:defRPr sz="1700"/>
            </a:pPr>
            <a:r>
              <a:t>• Deterministic Cognitive Scaffolding: Pedagogical progression via Bloom's Revised Taxonomy.</a:t>
            </a:r>
          </a:p>
          <a:p>
            <a:pPr>
              <a:spcAft>
                <a:spcPts val="600"/>
              </a:spcAft>
              <a:defRPr sz="1700"/>
            </a:pPr>
            <a:r>
              <a:t>• Multi-Signal 5-Factor Evaluation: Eliminates subjective black-box LLM 'vibe grading'.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Decoupled 4-Tier Distributed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High-Performance, Low-Latency Technology Stack:</a:t>
            </a:r>
          </a:p>
          <a:p>
            <a:pPr>
              <a:spcAft>
                <a:spcPts val="600"/>
              </a:spcAft>
              <a:defRPr sz="1700"/>
            </a:pPr>
            <a:r>
              <a:t>• Presentation Tier: React 18 SPA (Vite, Tailwind CSS, Web Speech API audio visualizer).</a:t>
            </a:r>
          </a:p>
          <a:p>
            <a:pPr>
              <a:spcAft>
                <a:spcPts val="600"/>
              </a:spcAft>
              <a:defRPr sz="1700"/>
            </a:pPr>
            <a:r>
              <a:t>• Application Routing: FastAPI (Python 3.10+, Uvicorn ASGI, Pydantic v2, HS256 JWT auth).</a:t>
            </a:r>
          </a:p>
          <a:p>
            <a:pPr>
              <a:spcAft>
                <a:spcPts val="600"/>
              </a:spcAft>
              <a:defRPr sz="1700"/>
            </a:pPr>
            <a:r>
              <a:t>• Core Intelligence Tier:</a:t>
            </a:r>
          </a:p>
          <a:p>
            <a:pPr lvl="1">
              <a:spcAft>
                <a:spcPts val="400"/>
              </a:spcAft>
              <a:defRPr sz="1500"/>
            </a:pPr>
            <a:r>
              <a:t>- ChromaDB HNSW Vector Store ('technical_kb', 402 chunks, 384-dim S-BERT embeddings).</a:t>
            </a:r>
          </a:p>
          <a:p>
            <a:pPr lvl="1">
              <a:spcAft>
                <a:spcPts val="400"/>
              </a:spcAft>
              <a:defRPr sz="1500"/>
            </a:pPr>
            <a:r>
              <a:t>- Groq Cloud LPU Inference (Llama 3.3 70B / GPT-OSS 120B, 320ms TTFT).</a:t>
            </a:r>
          </a:p>
          <a:p>
            <a:pPr lvl="1">
              <a:spcAft>
                <a:spcPts val="400"/>
              </a:spcAft>
              <a:defRPr sz="1500"/>
            </a:pPr>
            <a:r>
              <a:t>- Deterministic Python Bloom Adaptive State Engine.</a:t>
            </a:r>
          </a:p>
          <a:p>
            <a:pPr>
              <a:spcAft>
                <a:spcPts val="600"/>
              </a:spcAft>
              <a:defRPr sz="1700"/>
            </a:pPr>
            <a:r>
              <a:t>• Voice Subsystem &amp; Persistence:</a:t>
            </a:r>
          </a:p>
          <a:p>
            <a:pPr lvl="1">
              <a:spcAft>
                <a:spcPts val="400"/>
              </a:spcAft>
              <a:defRPr sz="1500"/>
            </a:pPr>
            <a:r>
              <a:t>- Microsoft Edge-TTS (en-US-ChristopherNeural, in-memory io.BytesIO, &lt;= 1.2s latency).</a:t>
            </a:r>
          </a:p>
          <a:p>
            <a:pPr lvl="1">
              <a:spcAft>
                <a:spcPts val="400"/>
              </a:spcAft>
              <a:defRPr sz="1500"/>
            </a:pPr>
            <a:r>
              <a:t>- Whisper Large-v3 STT with domain-primed technical vocabulary prompt.</a:t>
            </a:r>
          </a:p>
          <a:p>
            <a:pPr lvl="1">
              <a:spcAft>
                <a:spcPts val="400"/>
              </a:spcAft>
              <a:defRPr sz="1500"/>
            </a:pPr>
            <a:r>
              <a:t>- MySQL 8.0 relational database for users, sessions, and transcripts.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Core Workflow &amp; Context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Personalized Technical Staging Pipeline:</a:t>
            </a:r>
          </a:p>
          <a:p>
            <a:pPr>
              <a:spcAft>
                <a:spcPts val="600"/>
              </a:spcAft>
              <a:defRPr sz="1700"/>
            </a:pPr>
            <a:r>
              <a:t>• Document Ingestion: Candidate uploads Resume (PDF) and target Job Description (or Syllabus).</a:t>
            </a:r>
          </a:p>
          <a:p>
            <a:pPr>
              <a:spcAft>
                <a:spcPts val="600"/>
              </a:spcAft>
              <a:defRPr sz="1700"/>
            </a:pPr>
            <a:r>
              <a:t>• Deterministic Extraction: PyMuPDF isolates technical competencies and experience entities.</a:t>
            </a:r>
          </a:p>
          <a:p>
            <a:pPr>
              <a:spcAft>
                <a:spcPts val="600"/>
              </a:spcAft>
              <a:defRPr sz="1700"/>
            </a:pPr>
            <a:r>
              <a:t>• Set-Theoretic Skill Gap Analysis:</a:t>
            </a:r>
          </a:p>
          <a:p>
            <a:pPr lvl="1">
              <a:spcAft>
                <a:spcPts val="400"/>
              </a:spcAft>
              <a:defRPr sz="1500"/>
            </a:pPr>
            <a:r>
              <a:t>- Group A (Role Overlap): Skills present in both Resume &amp; JD -&gt; Targeted for verification.</a:t>
            </a:r>
          </a:p>
          <a:p>
            <a:pPr lvl="1">
              <a:spcAft>
                <a:spcPts val="400"/>
              </a:spcAft>
              <a:defRPr sz="1500"/>
            </a:pPr>
            <a:r>
              <a:t>- Group B (Role Gaps): Skills required by JD but missing in Resume -&gt; Targeted for adaptability.</a:t>
            </a:r>
          </a:p>
          <a:p>
            <a:pPr>
              <a:spcAft>
                <a:spcPts val="600"/>
              </a:spcAft>
              <a:defRPr sz="1700"/>
            </a:pPr>
            <a:r>
              <a:t>• Targeted Staging: The interview dynamically focuses on validating Group A and bridging Group 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RAG Grounding: Eliminating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Knowledge Base Architecture:</a:t>
            </a:r>
          </a:p>
          <a:p>
            <a:pPr>
              <a:spcAft>
                <a:spcPts val="600"/>
              </a:spcAft>
              <a:defRPr sz="1700"/>
            </a:pPr>
            <a:r>
              <a:t>• Curated repository of exactly 402 validated CS chunks across 50 concepts in 8 core domains (DSA, DBMS, OS, CN, System Design, OOP, Design Patterns, ML/DL).</a:t>
            </a:r>
          </a:p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Empirical Retrieval Benchmarks (33 Technical Domain Queries):</a:t>
            </a:r>
          </a:p>
          <a:p>
            <a:pPr>
              <a:spcAft>
                <a:spcPts val="600"/>
              </a:spcAft>
              <a:defRPr sz="1700"/>
            </a:pPr>
            <a:r>
              <a:t>• Hit@1 = 96.97% (Top retrieved chunk is the exact ground-truth answer key).</a:t>
            </a:r>
          </a:p>
          <a:p>
            <a:pPr>
              <a:spcAft>
                <a:spcPts val="600"/>
              </a:spcAft>
              <a:defRPr sz="1700"/>
            </a:pPr>
            <a:r>
              <a:t>• Hit@3 = 100.00% (Correct technical reference chunk guaranteed in top 3).</a:t>
            </a:r>
          </a:p>
          <a:p>
            <a:pPr>
              <a:spcAft>
                <a:spcPts val="600"/>
              </a:spcAft>
              <a:defRPr sz="1700"/>
            </a:pPr>
            <a:r>
              <a:t>• Mean Reciprocal Rank (MRR) = 0.9798 (Near-perfect ranking precision).</a:t>
            </a:r>
          </a:p>
          <a:p>
            <a:pPr>
              <a:spcAft>
                <a:spcPts val="600"/>
              </a:spcAft>
              <a:defRPr sz="1700"/>
            </a:pPr>
            <a:r>
              <a:t>• Retrieval Latency = 24.6 ms (Sub-100ms vector search via local ChromaDB HNSW).</a:t>
            </a:r>
          </a:p>
          <a:p>
            <a:pPr>
              <a:spcAft>
                <a:spcPts val="600"/>
              </a:spcAft>
              <a:defRPr sz="1700"/>
            </a:pPr>
            <a:r>
              <a:t>• Result: Zero ungrounded algorithmic or framework hallucinations.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Deterministic Adaptive Engine (Bloom's Taxonomy)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Pedagogical Cognitive Scaffolding (Python State Machine):</a:t>
            </a:r>
          </a:p>
          <a:p>
            <a:pPr>
              <a:spcAft>
                <a:spcPts val="600"/>
              </a:spcAft>
              <a:defRPr sz="1700"/>
            </a:pPr>
            <a:r>
              <a:t>• Maps questions strictly across Bloom's Revised Taxonomy:</a:t>
            </a:r>
          </a:p>
          <a:p>
            <a:pPr>
              <a:spcAft>
                <a:spcPts val="600"/>
              </a:spcAft>
              <a:defRPr sz="1600"/>
            </a:pPr>
            <a:r>
              <a:t>Remember (L1) -&gt; Understand (L2) -&gt; Apply (L3) -&gt; Analyze (L4) -&gt; Evaluate (L5) -&gt; Create (L6).</a:t>
            </a:r>
          </a:p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Deterministic Transition Rules:</a:t>
            </a:r>
          </a:p>
          <a:p>
            <a:pPr>
              <a:spcAft>
                <a:spcPts val="600"/>
              </a:spcAft>
              <a:defRPr sz="1700"/>
            </a:pPr>
            <a:r>
              <a:t>• Score &gt;= 80% (Mastery): Advance Bloom cognitive level (+1) or advance difficulty tier.</a:t>
            </a:r>
          </a:p>
          <a:p>
            <a:pPr>
              <a:spcAft>
                <a:spcPts val="600"/>
              </a:spcAft>
              <a:defRPr sz="1700"/>
            </a:pPr>
            <a:r>
              <a:t>• Score 50% - 79% (Adequate): Maintain current Bloom level and difficulty tier.</a:t>
            </a:r>
          </a:p>
          <a:p>
            <a:pPr>
              <a:spcAft>
                <a:spcPts val="600"/>
              </a:spcAft>
              <a:defRPr sz="1700"/>
            </a:pPr>
            <a:r>
              <a:t>• Score &lt; 50% (Remediation): Regress Bloom level (-1) to rebuild core foundational concepts.</a:t>
            </a:r>
          </a:p>
          <a:p>
            <a:pPr>
              <a:spcAft>
                <a:spcPts val="600"/>
              </a:spcAft>
              <a:defRPr sz="1700"/>
            </a:pPr>
            <a:r>
              <a:t>• Weakness-Biased Skill Selection: Automatically samples next questions from lowest-scoring skills.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Multi-Signal Evaluation (Eliminating 'Vibe Grading')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Objective 5-Part Mathematical Scoring Rubric:</a:t>
            </a:r>
          </a:p>
          <a:p>
            <a:pPr>
              <a:spcAft>
                <a:spcPts val="600"/>
              </a:spcAft>
              <a:defRPr sz="1700"/>
            </a:pPr>
            <a:r>
              <a:t>• 30% Technical Correctness: Deep LLM logical reasoning and factual accuracy.</a:t>
            </a:r>
          </a:p>
          <a:p>
            <a:pPr>
              <a:spcAft>
                <a:spcPts val="600"/>
              </a:spcAft>
              <a:defRPr sz="1700"/>
            </a:pPr>
            <a:r>
              <a:t>• 20% Completeness: Direct coverage of all question constraints and edge cases.</a:t>
            </a:r>
          </a:p>
          <a:p>
            <a:pPr>
              <a:spcAft>
                <a:spcPts val="600"/>
              </a:spcAft>
              <a:defRPr sz="1700"/>
            </a:pPr>
            <a:r>
              <a:t>• 20% Relevance: Focus, conciseness, and elimination of conversational filler.</a:t>
            </a:r>
          </a:p>
          <a:p>
            <a:pPr>
              <a:spcAft>
                <a:spcPts val="600"/>
              </a:spcAft>
              <a:defRPr sz="1700"/>
            </a:pPr>
            <a:r>
              <a:t>• 15% Semantic Cosine Similarity: Sentence-BERT (all-MiniLM-L6-v2) matching against ground truth.</a:t>
            </a:r>
          </a:p>
          <a:p>
            <a:pPr>
              <a:spcAft>
                <a:spcPts val="600"/>
              </a:spcAft>
              <a:defRPr sz="1700"/>
            </a:pPr>
            <a:r>
              <a:t>• 15% Explicit Concept Coverage: Deterministic keyword &amp; technical entity detection.</a:t>
            </a:r>
          </a:p>
          <a:p>
            <a:pPr>
              <a:spcAft>
                <a:spcPts val="600"/>
              </a:spcAft>
              <a:defRPr sz="1600"/>
            </a:pPr>
            <a:r>
              <a:t>Why This Split? Blends semantic understanding with hard concept verification, ensuring reproducible, unbiased scoring immune to prompt drift.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Voice Pipeline &amp; Comprehensive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Low-Latency Spoken Dialogue Pipeline:</a:t>
            </a:r>
          </a:p>
          <a:p>
            <a:pPr>
              <a:spcAft>
                <a:spcPts val="600"/>
              </a:spcAft>
              <a:defRPr sz="1700"/>
            </a:pPr>
            <a:r>
              <a:t>• Two-Way Audio: Whisper Large-v3 STT (Groq) + Microsoft Edge-TTS (en-US-ChristopherNeural).</a:t>
            </a:r>
          </a:p>
          <a:p>
            <a:pPr>
              <a:spcAft>
                <a:spcPts val="600"/>
              </a:spcAft>
              <a:defRPr sz="1700"/>
            </a:pPr>
            <a:r>
              <a:t>• Voice Synthesis Latency &lt;= 1.2s: In-memory io.BytesIO streaming (zero disk footprint).</a:t>
            </a:r>
          </a:p>
          <a:p>
            <a:pPr>
              <a:spcAft>
                <a:spcPts val="600"/>
              </a:spcAft>
              <a:defRPr sz="1700"/>
            </a:pPr>
            <a:r>
              <a:t>• End-to-End Turnaround &lt; 2.5s: Prevents conversational dead air during mock interviews.</a:t>
            </a:r>
          </a:p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Diagnostic Performance Reporting:</a:t>
            </a:r>
          </a:p>
          <a:p>
            <a:pPr>
              <a:spcAft>
                <a:spcPts val="600"/>
              </a:spcAft>
              <a:defRPr sz="1700"/>
            </a:pPr>
            <a:r>
              <a:t>• Real-time React dashboard with 5-axis competency radar chart &amp; Bloom level progression.</a:t>
            </a:r>
          </a:p>
          <a:p>
            <a:pPr>
              <a:spcAft>
                <a:spcPts val="600"/>
              </a:spcAft>
              <a:defRPr sz="1700"/>
            </a:pPr>
            <a:r>
              <a:t>• Downloadable ReportLab PDF: Detailed question transcripts, skill heatmaps, and personalized upskilling roadmaps.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System Verification &amp; Test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b="1" sz="1800">
                <a:solidFill>
                  <a:srgbClr val="2B6CB0"/>
                </a:solidFill>
              </a:defRPr>
            </a:pPr>
            <a:r>
              <a:t>Validated across 7 formal test cases (TC-01 through TC-07):</a:t>
            </a:r>
          </a:p>
          <a:p>
            <a:pPr>
              <a:spcAft>
                <a:spcPts val="600"/>
              </a:spcAft>
              <a:defRPr sz="1700"/>
            </a:pPr>
            <a:r>
              <a:t>• TC-01 (Auth): Duplicate user registration rejected (HTTP 400) — PASSED</a:t>
            </a:r>
          </a:p>
          <a:p>
            <a:pPr>
              <a:spcAft>
                <a:spcPts val="600"/>
              </a:spcAft>
              <a:defRPr sz="1700"/>
            </a:pPr>
            <a:r>
              <a:t>• TC-02 (Parsing): Invalid/corrupt file upload rejected (HTTP 400) — PASSED</a:t>
            </a:r>
          </a:p>
          <a:p>
            <a:pPr>
              <a:spcAft>
                <a:spcPts val="600"/>
              </a:spcAft>
              <a:defRPr sz="1700"/>
            </a:pPr>
            <a:r>
              <a:t>• TC-03 (RAG Retrieval): Top-3 context returned in 24.6ms (&lt;= 100ms bound) — PASSED</a:t>
            </a:r>
          </a:p>
          <a:p>
            <a:pPr>
              <a:spcAft>
                <a:spcPts val="600"/>
              </a:spcAft>
              <a:defRPr sz="1700"/>
            </a:pPr>
            <a:r>
              <a:t>• TC-04 (Adaptive Escalation): Score &gt;= 80% advances Bloom level (+1) — PASSED</a:t>
            </a:r>
          </a:p>
          <a:p>
            <a:pPr>
              <a:spcAft>
                <a:spcPts val="600"/>
              </a:spcAft>
              <a:defRPr sz="1700"/>
            </a:pPr>
            <a:r>
              <a:t>• TC-05 (Adaptive Remediation): Score &lt; 50% regresses Bloom level (-1) — PASSED</a:t>
            </a:r>
          </a:p>
          <a:p>
            <a:pPr>
              <a:spcAft>
                <a:spcPts val="600"/>
              </a:spcAft>
              <a:defRPr sz="1700"/>
            </a:pPr>
            <a:r>
              <a:t>• TC-06 (Neural Voice): In-memory TTS byte stream generated in &lt;= 1.2s — PASSED</a:t>
            </a:r>
          </a:p>
          <a:p>
            <a:pPr>
              <a:spcAft>
                <a:spcPts val="600"/>
              </a:spcAft>
              <a:defRPr sz="1700"/>
            </a:pPr>
            <a:r>
              <a:t>• TC-07 (Rubric Determinism): 5-factor scoring formula convergence — PASSED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365D"/>
                </a:solidFill>
              </a:defRPr>
            </a:pPr>
            <a:r>
              <a:t>Conclusion &amp;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SmartInterview: Grounded, Adaptive, and Deterministic Technical Interview Preparation.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Bridging higher education and industry hiring through 402-chunk RAG, Bloom's cognitive engine, and low-latency voice.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Thank you! We invite questions from the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